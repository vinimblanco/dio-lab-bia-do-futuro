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252C54"/>
                </a:solidFill>
                <a:latin typeface="Calibri"/>
              </a:rPr>
              <a:t>97,5%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E8B84B"/>
                </a:solidFill>
                <a:latin typeface="Calibri"/>
              </a:rPr>
              <a:t>Seu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FariaLimer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0E4F0"/>
                </a:solidFill>
                <a:latin typeface="Calibri"/>
              </a:rPr>
              <a:t>O especialista do Faria Lima que você sempre quis ter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E8B84B"/>
                </a:solidFill>
                <a:latin typeface="Calibri"/>
              </a:rPr>
              <a:t>agora particular, acessível e do seu lado.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5943600" cy="5486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1091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4F0"/>
                </a:solidFill>
                <a:latin typeface="Calibri"/>
              </a:rPr>
              <a:t>Consultor de Investimentos com IA Generativa  ·  Contexto Brasileiro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8A"/>
                </a:solidFill>
                <a:latin typeface="Calibri"/>
              </a:rPr>
              <a:t>Projeto DIO —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0515600" cy="457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8B84B"/>
                </a:solidFill>
                <a:latin typeface="Calibri"/>
              </a:rPr>
              <a:t>Por que 97,5% dos brasileiros ainda não investem?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3474720" cy="182880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B84B"/>
                </a:solidFill>
                <a:latin typeface="Calibri"/>
              </a:rPr>
              <a:t>97,5%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  <a:latin typeface="Calibri"/>
              </a:rPr>
              <a:t>da população não
investe na bolsa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91640"/>
            <a:ext cx="3474720" cy="182880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783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B84B"/>
                </a:solidFill>
                <a:latin typeface="Calibri"/>
              </a:rPr>
              <a:t>R$100k+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  <a:latin typeface="Calibri"/>
              </a:rPr>
              <a:t>patrimônio mínimo
para ter assessor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691640"/>
            <a:ext cx="3474720" cy="182880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1783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B84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4F0"/>
                </a:solidFill>
                <a:latin typeface="Calibri"/>
              </a:rPr>
              <a:t>barreiras que travam
quem quer começar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49039"/>
            <a:ext cx="3474720" cy="256032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749039"/>
            <a:ext cx="274320" cy="25603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886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84B"/>
                </a:solidFill>
                <a:latin typeface="Calibri"/>
              </a:rPr>
              <a:t>Acesso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348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Assessores focam em clientes com R$100k+.
Quem tem R$500 só tem YouTube.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749039"/>
            <a:ext cx="3474720" cy="256032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3749039"/>
            <a:ext cx="274320" cy="25603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886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84B"/>
                </a:solidFill>
                <a:latin typeface="Calibri"/>
              </a:rPr>
              <a:t>Complexidade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4348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CDB, LCI, FII, ETF, PGBL... produtos demais,
orientação de menos.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749039"/>
            <a:ext cx="3474720" cy="256032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3749039"/>
            <a:ext cx="274320" cy="25603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886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84B"/>
                </a:solidFill>
                <a:latin typeface="Calibri"/>
              </a:rPr>
              <a:t>Confiança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4348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Medo de errar paralisa. Golpes financeiros
tornam o ambiente hostil.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0515600" cy="457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8B84B"/>
                </a:solidFill>
                <a:latin typeface="Calibri"/>
              </a:rPr>
              <a:t>Seu assessor particular de IA — sem patrimônio mínimo, sem conflito de interesse.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3474720" cy="21488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4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Perfil personalizado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Diagnóstico de suitability conversacional.
Nunca sugere produto sem entender você primeiro.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691640"/>
            <a:ext cx="3474720" cy="21488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4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Educação contextual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23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Explica Tesouro, CDB, FII, ETF
no seu contexto — não de forma genérica.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691640"/>
            <a:ext cx="3474720" cy="21488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4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Simulações reais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423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Juros compostos, aposentadoria
com seus números específicos.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474720" cy="21488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4B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Detector de golpes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Identifica red flags antes do LLM.
Retorno garantido? Bloqueado imediatamente.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023360"/>
            <a:ext cx="3474720" cy="21488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160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4B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Memória de sessão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Lembra seu perfil e histórico
ao longo de toda a conversa.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4023360"/>
            <a:ext cx="3474720" cy="21488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59" y="41605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4B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Conformidade CVM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Nunca recomenda ativo específico.
Disclaimer automático em toda resposta.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Demonstração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0515600" cy="457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8B84B"/>
                </a:solidFill>
                <a:latin typeface="Calibri"/>
              </a:rPr>
              <a:t>3 fluxos ao vivo — do diagnóstico ao alerta.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3474720" cy="475488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3474720" cy="914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B84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Diagnóstico de Perfil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108960"/>
            <a:ext cx="3108960" cy="320040"/>
          </a:xfrm>
          <a:prstGeom prst="rect">
            <a:avLst/>
          </a:prstGeom>
          <a:solidFill>
            <a:srgbClr val="0D1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36392"/>
            <a:ext cx="2834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B84B"/>
                </a:solidFill>
                <a:latin typeface="Calibri"/>
              </a:rPr>
              <a:t>Novo usuário, sem histórico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844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4F0"/>
                </a:solidFill>
                <a:latin typeface="Calibri"/>
              </a:rPr>
              <a:t>"Tenho R$800 e quero começar a investir"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343400"/>
            <a:ext cx="3108960" cy="36576"/>
          </a:xfrm>
          <a:prstGeom prst="rect">
            <a:avLst/>
          </a:prstGeom>
          <a:solidFill>
            <a:srgbClr val="35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462272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Agente aplica suitability conversacional
e apresenta produtos compatíveis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79" y="1691640"/>
            <a:ext cx="3474720" cy="475488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79" y="1691640"/>
            <a:ext cx="34747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542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Simulação de Aposentadoria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3108960"/>
            <a:ext cx="3108960" cy="320040"/>
          </a:xfrm>
          <a:prstGeom prst="rect">
            <a:avLst/>
          </a:prstGeom>
          <a:solidFill>
            <a:srgbClr val="0D1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19" y="3136392"/>
            <a:ext cx="2834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B82F6"/>
                </a:solidFill>
                <a:latin typeface="Calibri"/>
              </a:rPr>
              <a:t>João Silva — moderado, 34 anos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5844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4F0"/>
                </a:solidFill>
                <a:latin typeface="Calibri"/>
              </a:rPr>
              <a:t>"Quanto guardar por mês para R$2.000.000?"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4343400"/>
            <a:ext cx="3108960" cy="36576"/>
          </a:xfrm>
          <a:prstGeom prst="rect">
            <a:avLst/>
          </a:prstGeom>
          <a:solidFill>
            <a:srgbClr val="35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462272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3 cenários com total aportado
vs. juros compostos gerados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9" y="1691640"/>
            <a:ext cx="3474720" cy="475488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59" y="1691640"/>
            <a:ext cx="347472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9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74C3C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2542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Alerta de Golpe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39" y="3108960"/>
            <a:ext cx="3108960" cy="320040"/>
          </a:xfrm>
          <a:prstGeom prst="rect">
            <a:avLst/>
          </a:prstGeom>
          <a:solidFill>
            <a:srgbClr val="0D1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9" y="3136392"/>
            <a:ext cx="2834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74C3C"/>
                </a:solidFill>
                <a:latin typeface="Calibri"/>
              </a:rPr>
              <a:t>Qualquer perfil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5844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4F0"/>
                </a:solidFill>
                <a:latin typeface="Calibri"/>
              </a:rPr>
              <a:t>"Cripto pagando 5% ao mês garantido?"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39" y="4343400"/>
            <a:ext cx="3108960" cy="36576"/>
          </a:xfrm>
          <a:prstGeom prst="rect">
            <a:avLst/>
          </a:prstGeom>
          <a:solidFill>
            <a:srgbClr val="353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4462272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Bloqueio antes do LLM:
5%/mês = 79,6%/ano vs Selic 13,75%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Diferencial e Impacto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0515600" cy="457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B84B"/>
                </a:solidFill>
                <a:latin typeface="Calibri"/>
              </a:rPr>
              <a:t>Diferenciais Técnicos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56231"/>
            <a:ext cx="54864" cy="5029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RAG sobre base curada 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Não alucina — responde só com documentos verificados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80360"/>
            <a:ext cx="54864" cy="5029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072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Detector de golpes hard-coded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729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Bloqueio em Python antes do LLM, sem gastar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04488"/>
            <a:ext cx="54864" cy="5029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313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Suitability obrigatório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Segue Resolução CVM nº 30/2021 — perfil antes de produto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928616"/>
            <a:ext cx="54864" cy="5029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5546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Stack 100% gratuita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2122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4F0"/>
                </a:solidFill>
                <a:latin typeface="Calibri"/>
              </a:rPr>
              <a:t>Groq + ChromaDB + Streamlit: custo R$ 0,00/mês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B84B"/>
                </a:solidFill>
                <a:latin typeface="Calibri"/>
              </a:rPr>
              <a:t>Impacto Social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783080"/>
            <a:ext cx="4937760" cy="137160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92024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B84B"/>
                </a:solidFill>
                <a:latin typeface="Calibri"/>
              </a:rPr>
              <a:t>40M+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57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4F0"/>
                </a:solidFill>
                <a:latin typeface="Calibri"/>
              </a:rPr>
              <a:t>brasileiros da classe média
que podem se beneficiar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3319272"/>
            <a:ext cx="4937760" cy="137160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456432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B84B"/>
                </a:solidFill>
                <a:latin typeface="Calibri"/>
              </a:rPr>
              <a:t>R$ 0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93591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4F0"/>
                </a:solidFill>
                <a:latin typeface="Calibri"/>
              </a:rPr>
              <a:t>patrimônio mínimo para
receber orientação qualificada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4855464"/>
            <a:ext cx="4937760" cy="137160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992624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B84B"/>
                </a:solidFill>
                <a:latin typeface="Calibri"/>
              </a:rPr>
              <a:t>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129783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4F0"/>
                </a:solidFill>
                <a:latin typeface="Calibri"/>
              </a:rPr>
              <a:t>disponibilidade — sem hora
marcada, sem lista de espera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A1F3C"/>
                </a:solidFill>
                <a:latin typeface="Calibri"/>
              </a:rPr>
              <a:t>SeuFariaLimer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9844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1A1F3C"/>
                </a:solidFill>
                <a:latin typeface="Calibri"/>
              </a:rPr>
              <a:t>O Faria Lima não precisa mais ser exclusivo.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2331720" cy="28346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B84B"/>
                </a:solidFill>
                <a:latin typeface="Calibri"/>
              </a:rPr>
              <a:t>Educacao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4F0"/>
                </a:solidFill>
                <a:latin typeface="Calibri"/>
              </a:rPr>
              <a:t>Base curada
em PT-BR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31720"/>
            <a:ext cx="2331720" cy="28346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514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B84B"/>
                </a:solidFill>
                <a:latin typeface="Calibri"/>
              </a:rPr>
              <a:t>Simulacao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54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4F0"/>
                </a:solidFill>
                <a:latin typeface="Calibri"/>
              </a:rPr>
              <a:t>Calculadoras
financeiras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31720"/>
            <a:ext cx="2331720" cy="28346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B84B"/>
                </a:solidFill>
                <a:latin typeface="Calibri"/>
              </a:rPr>
              <a:t>Seguranca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54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4F0"/>
                </a:solidFill>
                <a:latin typeface="Calibri"/>
              </a:rPr>
              <a:t>Detector de
golpes CVM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331720"/>
            <a:ext cx="2331720" cy="2834640"/>
          </a:xfrm>
          <a:prstGeom prst="rect">
            <a:avLst/>
          </a:prstGeom>
          <a:solidFill>
            <a:srgbClr val="25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514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B84B"/>
                </a:solidFill>
                <a:latin typeface="Calibri"/>
              </a:rPr>
              <a:t>Acesso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154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4F0"/>
                </a:solidFill>
                <a:latin typeface="Calibri"/>
              </a:rPr>
              <a:t>Stack gratis
24/7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394960"/>
            <a:ext cx="12188952" cy="914400"/>
          </a:xfrm>
          <a:prstGeom prst="rect">
            <a:avLst/>
          </a:prstGeom>
          <a:solidFill>
            <a:srgbClr val="12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550468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4F0"/>
                </a:solidFill>
                <a:latin typeface="Calibri"/>
              </a:rPr>
              <a:t>Python  ·  LangChain  ·  ChromaDB  ·  Groq Llama 3.3  ·  Streamlit  ·  Sentence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925312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C99"/>
                </a:solidFill>
                <a:latin typeface="Calibri"/>
              </a:rPr>
              <a:t>Ferramenta educacional — não substitui assessor certificado CVM/ANBIMA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